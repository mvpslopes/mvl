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26" r:id="rId2"/>
    <p:sldId id="337" r:id="rId3"/>
  </p:sldIdLst>
  <p:sldSz cx="9144000" cy="6858000" type="screen4x3"/>
  <p:notesSz cx="6858000" cy="9926638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33CC"/>
    <a:srgbClr val="002941"/>
    <a:srgbClr val="64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522" autoAdjust="0"/>
    <p:restoredTop sz="86410" autoAdjust="0"/>
  </p:normalViewPr>
  <p:slideViewPr>
    <p:cSldViewPr>
      <p:cViewPr varScale="1">
        <p:scale>
          <a:sx n="62" d="100"/>
          <a:sy n="62" d="100"/>
        </p:scale>
        <p:origin x="109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2004" cy="495793"/>
          </a:xfrm>
          <a:prstGeom prst="rect">
            <a:avLst/>
          </a:prstGeom>
        </p:spPr>
        <p:txBody>
          <a:bodyPr vert="horz" lIns="95893" tIns="47947" rIns="95893" bIns="47947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464" y="1"/>
            <a:ext cx="2972004" cy="495793"/>
          </a:xfrm>
          <a:prstGeom prst="rect">
            <a:avLst/>
          </a:prstGeom>
        </p:spPr>
        <p:txBody>
          <a:bodyPr vert="horz" lIns="95893" tIns="47947" rIns="95893" bIns="47947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2D342D78-7A9D-4562-A30B-AE3101CF0A22}" type="datetimeFigureOut">
              <a:rPr lang="pt-BR"/>
              <a:pPr>
                <a:defRPr/>
              </a:pPr>
              <a:t>29/05/2026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893" tIns="47947" rIns="95893" bIns="47947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494" y="4714654"/>
            <a:ext cx="5487013" cy="4466756"/>
          </a:xfrm>
          <a:prstGeom prst="rect">
            <a:avLst/>
          </a:prstGeom>
        </p:spPr>
        <p:txBody>
          <a:bodyPr vert="horz" lIns="95893" tIns="47947" rIns="95893" bIns="47947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429306"/>
            <a:ext cx="2972004" cy="495793"/>
          </a:xfrm>
          <a:prstGeom prst="rect">
            <a:avLst/>
          </a:prstGeom>
        </p:spPr>
        <p:txBody>
          <a:bodyPr vert="horz" lIns="95893" tIns="47947" rIns="95893" bIns="47947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464" y="9429306"/>
            <a:ext cx="2972004" cy="495793"/>
          </a:xfrm>
          <a:prstGeom prst="rect">
            <a:avLst/>
          </a:prstGeom>
        </p:spPr>
        <p:txBody>
          <a:bodyPr vert="horz" lIns="95893" tIns="47947" rIns="95893" bIns="47947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76D97044-CA29-47E6-AAD6-04773FFCDC09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21812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5748" y="2500307"/>
            <a:ext cx="7772400" cy="714380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0026" y="3071810"/>
            <a:ext cx="6400800" cy="471494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4E709ED2-DD77-4612-B681-0F64E3B2A574}" type="datetimeFigureOut">
              <a:rPr lang="pt-BR"/>
              <a:pPr>
                <a:defRPr/>
              </a:pPr>
              <a:t>29/05/2026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02017-A15E-437A-A5B5-DAE490542744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4BFB1EA9-CC7C-4CBA-B975-EEA44296025C}" type="datetimeFigureOut">
              <a:rPr lang="pt-BR"/>
              <a:pPr>
                <a:defRPr/>
              </a:pPr>
              <a:t>29/05/2026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E6CA3-4673-452A-A123-72D4AA32FFCC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98EBBB2B-7065-406D-9D5E-594E4E5FE468}" type="datetimeFigureOut">
              <a:rPr lang="pt-BR"/>
              <a:pPr>
                <a:defRPr/>
              </a:pPr>
              <a:t>29/05/2026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080D41-A0D9-4DAA-A76F-A9E41FEE8CDA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3DD1BC7D-44A5-4BB4-8C82-4C68A38DC2A5}" type="datetimeFigureOut">
              <a:rPr lang="pt-BR"/>
              <a:pPr>
                <a:defRPr/>
              </a:pPr>
              <a:t>29/05/2026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4947F8-841B-4490-B710-0C108ED682AC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BF2B814-EFE6-42DB-8D35-C6D196927F97}" type="datetimeFigureOut">
              <a:rPr lang="pt-BR"/>
              <a:pPr>
                <a:defRPr/>
              </a:pPr>
              <a:t>29/05/2026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2167E4-5A31-4E39-871E-07EFA45271E5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1B48B274-7289-43D3-914B-E09E5B9A2AB9}" type="datetimeFigureOut">
              <a:rPr lang="pt-BR"/>
              <a:pPr>
                <a:defRPr/>
              </a:pPr>
              <a:t>29/05/2026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A1AC13-A668-458D-B085-1833211C18DF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8265B492-BA3E-4793-BE68-32D63DE2712C}" type="datetimeFigureOut">
              <a:rPr lang="pt-BR"/>
              <a:pPr>
                <a:defRPr/>
              </a:pPr>
              <a:t>29/05/2026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D12076-C872-42BC-9920-74A726A13FA4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2C375E1C-9ECD-4242-A4EF-1FD633F0971A}" type="datetimeFigureOut">
              <a:rPr lang="pt-BR"/>
              <a:pPr>
                <a:defRPr/>
              </a:pPr>
              <a:t>29/05/2026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9D6E8-AE12-48DE-8756-4847E5684E32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5939550A-1E5A-40E0-84FF-716997E247CE}" type="datetimeFigureOut">
              <a:rPr lang="pt-BR"/>
              <a:pPr>
                <a:defRPr/>
              </a:pPr>
              <a:t>29/05/2026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64AE50-42B2-4547-BDB2-1555C7158DE4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29244BD4-E821-4EAB-8BBF-BD5B9531C731}" type="datetimeFigureOut">
              <a:rPr lang="pt-BR"/>
              <a:pPr>
                <a:defRPr/>
              </a:pPr>
              <a:t>29/05/2026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9663FA-AF4B-42F3-BDB3-6212A824178A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D41730EA-8870-4F27-8609-B46AC15FD78D}" type="datetimeFigureOut">
              <a:rPr lang="pt-BR"/>
              <a:pPr>
                <a:defRPr/>
              </a:pPr>
              <a:t>29/05/2026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96D9D-D984-414C-B117-D1A22706CB21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1000125" y="488950"/>
            <a:ext cx="7929563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457200" y="1546225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27D729E-5DCE-475D-A72B-78D48B4CFC4C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  <p:grpSp>
        <p:nvGrpSpPr>
          <p:cNvPr id="1029" name="Grupo 10"/>
          <p:cNvGrpSpPr>
            <a:grpSpLocks/>
          </p:cNvGrpSpPr>
          <p:nvPr userDrawn="1"/>
        </p:nvGrpSpPr>
        <p:grpSpPr bwMode="auto">
          <a:xfrm>
            <a:off x="0" y="0"/>
            <a:ext cx="9144000" cy="6858000"/>
            <a:chOff x="0" y="0"/>
            <a:chExt cx="9144000" cy="6858024"/>
          </a:xfrm>
        </p:grpSpPr>
        <p:grpSp>
          <p:nvGrpSpPr>
            <p:cNvPr id="1038" name="Grupo 9"/>
            <p:cNvGrpSpPr>
              <a:grpSpLocks/>
            </p:cNvGrpSpPr>
            <p:nvPr userDrawn="1"/>
          </p:nvGrpSpPr>
          <p:grpSpPr bwMode="auto">
            <a:xfrm>
              <a:off x="0" y="0"/>
              <a:ext cx="9144000" cy="6838950"/>
              <a:chOff x="0" y="0"/>
              <a:chExt cx="9144000" cy="6838950"/>
            </a:xfrm>
          </p:grpSpPr>
          <p:pic>
            <p:nvPicPr>
              <p:cNvPr id="1040" name="Picture 6" descr="FUNDO_claro"/>
              <p:cNvPicPr>
                <a:picLocks noChangeAspect="1" noChangeArrowheads="1"/>
              </p:cNvPicPr>
              <p:nvPr userDrawn="1"/>
            </p:nvPicPr>
            <p:blipFill>
              <a:blip r:embed="rId13" cstate="screen"/>
              <a:srcRect/>
              <a:stretch>
                <a:fillRect/>
              </a:stretch>
            </p:blipFill>
            <p:spPr bwMode="auto">
              <a:xfrm>
                <a:off x="0" y="0"/>
                <a:ext cx="9144000" cy="68389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1" name="Retângulo 10"/>
              <p:cNvSpPr/>
              <p:nvPr userDrawn="1"/>
            </p:nvSpPr>
            <p:spPr>
              <a:xfrm>
                <a:off x="214313" y="6143647"/>
                <a:ext cx="1714500" cy="57150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dirty="0"/>
              </a:p>
            </p:txBody>
          </p:sp>
        </p:grpSp>
        <p:pic>
          <p:nvPicPr>
            <p:cNvPr id="1039" name="Picture 6" descr="FUNDO_claro"/>
            <p:cNvPicPr>
              <a:picLocks noChangeAspect="1" noChangeArrowheads="1"/>
            </p:cNvPicPr>
            <p:nvPr userDrawn="1"/>
          </p:nvPicPr>
          <p:blipFill>
            <a:blip r:embed="rId14" cstate="screen"/>
            <a:srcRect/>
            <a:stretch>
              <a:fillRect/>
            </a:stretch>
          </p:blipFill>
          <p:spPr bwMode="auto">
            <a:xfrm>
              <a:off x="71406" y="6286544"/>
              <a:ext cx="1704988" cy="571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030" name="Grupo 17"/>
          <p:cNvGrpSpPr>
            <a:grpSpLocks/>
          </p:cNvGrpSpPr>
          <p:nvPr userDrawn="1"/>
        </p:nvGrpSpPr>
        <p:grpSpPr bwMode="auto">
          <a:xfrm>
            <a:off x="0" y="476250"/>
            <a:ext cx="9144000" cy="6381750"/>
            <a:chOff x="0" y="475658"/>
            <a:chExt cx="9144000" cy="6382342"/>
          </a:xfrm>
        </p:grpSpPr>
        <p:sp>
          <p:nvSpPr>
            <p:cNvPr id="12" name="Retângulo 11"/>
            <p:cNvSpPr/>
            <p:nvPr userDrawn="1"/>
          </p:nvSpPr>
          <p:spPr>
            <a:xfrm>
              <a:off x="0" y="928138"/>
              <a:ext cx="9144000" cy="53583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dirty="0"/>
            </a:p>
          </p:txBody>
        </p:sp>
        <p:sp>
          <p:nvSpPr>
            <p:cNvPr id="13" name="Retângulo 12"/>
            <p:cNvSpPr/>
            <p:nvPr userDrawn="1"/>
          </p:nvSpPr>
          <p:spPr>
            <a:xfrm>
              <a:off x="1857375" y="5929227"/>
              <a:ext cx="7286625" cy="928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dirty="0"/>
            </a:p>
          </p:txBody>
        </p:sp>
        <p:sp>
          <p:nvSpPr>
            <p:cNvPr id="14" name="Retângulo 13"/>
            <p:cNvSpPr/>
            <p:nvPr userDrawn="1"/>
          </p:nvSpPr>
          <p:spPr>
            <a:xfrm>
              <a:off x="1000125" y="475658"/>
              <a:ext cx="8143875" cy="9287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dirty="0"/>
            </a:p>
          </p:txBody>
        </p:sp>
        <p:sp>
          <p:nvSpPr>
            <p:cNvPr id="15" name="Losango 14"/>
            <p:cNvSpPr/>
            <p:nvPr userDrawn="1"/>
          </p:nvSpPr>
          <p:spPr>
            <a:xfrm rot="21406641">
              <a:off x="796925" y="475658"/>
              <a:ext cx="428625" cy="714441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dirty="0"/>
            </a:p>
          </p:txBody>
        </p:sp>
        <p:sp>
          <p:nvSpPr>
            <p:cNvPr id="16" name="Losango 15"/>
            <p:cNvSpPr/>
            <p:nvPr userDrawn="1"/>
          </p:nvSpPr>
          <p:spPr>
            <a:xfrm rot="21406641">
              <a:off x="412750" y="477246"/>
              <a:ext cx="428625" cy="714441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dirty="0"/>
            </a:p>
          </p:txBody>
        </p:sp>
        <p:sp>
          <p:nvSpPr>
            <p:cNvPr id="17" name="Retângulo 16"/>
            <p:cNvSpPr/>
            <p:nvPr userDrawn="1"/>
          </p:nvSpPr>
          <p:spPr>
            <a:xfrm>
              <a:off x="0" y="497885"/>
              <a:ext cx="628650" cy="9287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dirty="0"/>
            </a:p>
          </p:txBody>
        </p:sp>
      </p:grpSp>
      <p:cxnSp>
        <p:nvCxnSpPr>
          <p:cNvPr id="20" name="Conector reto 19"/>
          <p:cNvCxnSpPr/>
          <p:nvPr userDrawn="1"/>
        </p:nvCxnSpPr>
        <p:spPr>
          <a:xfrm>
            <a:off x="0" y="6215063"/>
            <a:ext cx="9144000" cy="1587"/>
          </a:xfrm>
          <a:prstGeom prst="line">
            <a:avLst/>
          </a:prstGeom>
          <a:ln w="3175">
            <a:solidFill>
              <a:srgbClr val="0029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7" r:id="rId1"/>
    <p:sldLayoutId id="2147484398" r:id="rId2"/>
    <p:sldLayoutId id="2147484399" r:id="rId3"/>
    <p:sldLayoutId id="2147484400" r:id="rId4"/>
    <p:sldLayoutId id="2147484401" r:id="rId5"/>
    <p:sldLayoutId id="2147484402" r:id="rId6"/>
    <p:sldLayoutId id="2147484403" r:id="rId7"/>
    <p:sldLayoutId id="2147484404" r:id="rId8"/>
    <p:sldLayoutId id="2147484405" r:id="rId9"/>
    <p:sldLayoutId id="2147484406" r:id="rId10"/>
    <p:sldLayoutId id="2147484407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683568" y="1118766"/>
            <a:ext cx="7929563" cy="654050"/>
          </a:xfrm>
        </p:spPr>
        <p:txBody>
          <a:bodyPr/>
          <a:lstStyle/>
          <a:p>
            <a:pPr algn="ctr"/>
            <a:r>
              <a:rPr lang="pt-BR" b="1" dirty="0"/>
              <a:t>CERTIFICADO</a:t>
            </a:r>
            <a:br>
              <a:rPr lang="pt-BR" b="1" dirty="0"/>
            </a:br>
            <a:r>
              <a:rPr lang="pt-BR" sz="2400" dirty="0"/>
              <a:t>A TOP SERVICE SERVIÇOS E SISTEMAS LTDA, confere o presente Certificado a:</a:t>
            </a:r>
            <a:br>
              <a:rPr lang="pt-BR" sz="2400" dirty="0"/>
            </a:br>
            <a:endParaRPr lang="pt-BR" dirty="0"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3081253" y="3861048"/>
            <a:ext cx="3134191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_______________________</a:t>
            </a:r>
          </a:p>
          <a:p>
            <a:pPr algn="ctr"/>
            <a:r>
              <a:rPr lang="pt-BR" sz="1000" b="1" dirty="0">
                <a:solidFill>
                  <a:srgbClr val="FF0000"/>
                </a:solidFill>
              </a:rPr>
              <a:t>Antônio dos Santos Lopes</a:t>
            </a:r>
          </a:p>
          <a:p>
            <a:pPr algn="ctr"/>
            <a:r>
              <a:rPr lang="pt-BR" sz="1000" b="1" dirty="0">
                <a:solidFill>
                  <a:srgbClr val="FF0000"/>
                </a:solidFill>
              </a:rPr>
              <a:t>CPF.: </a:t>
            </a:r>
            <a:r>
              <a:rPr lang="pt-BR" sz="1000" dirty="0">
                <a:solidFill>
                  <a:srgbClr val="FF0000"/>
                </a:solidFill>
              </a:rPr>
              <a:t>601.996.606-20</a:t>
            </a:r>
            <a:endParaRPr lang="pt-BR" sz="1000" b="1" dirty="0">
              <a:solidFill>
                <a:srgbClr val="FF0000"/>
              </a:solidFill>
            </a:endParaRPr>
          </a:p>
          <a:p>
            <a:pPr algn="ctr"/>
            <a:r>
              <a:rPr lang="pt-BR" sz="1000" b="1" dirty="0">
                <a:solidFill>
                  <a:srgbClr val="FF0000"/>
                </a:solidFill>
              </a:rPr>
              <a:t>(Recebi a segunda via deste certificado </a:t>
            </a:r>
          </a:p>
          <a:p>
            <a:pPr algn="ctr"/>
            <a:r>
              <a:rPr lang="pt-BR" sz="1000" b="1" dirty="0">
                <a:solidFill>
                  <a:srgbClr val="FF0000"/>
                </a:solidFill>
              </a:rPr>
              <a:t>e estou ciente das remunerações</a:t>
            </a:r>
            <a:r>
              <a:rPr lang="pt-BR" sz="1000" b="1" dirty="0"/>
              <a:t>)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302420" y="4797152"/>
            <a:ext cx="3262433" cy="14927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________________________</a:t>
            </a:r>
          </a:p>
          <a:p>
            <a:pPr algn="ctr"/>
            <a:r>
              <a:rPr lang="pt-BR" sz="1100" b="1" dirty="0">
                <a:solidFill>
                  <a:srgbClr val="FF0000"/>
                </a:solidFill>
              </a:rPr>
              <a:t>TOP SERVICE SERVIÇOS E SISTEMAS LTDA</a:t>
            </a:r>
          </a:p>
          <a:p>
            <a:pPr algn="ctr"/>
            <a:r>
              <a:rPr lang="pt-BR" sz="1100" b="1" dirty="0">
                <a:solidFill>
                  <a:srgbClr val="FF0000"/>
                </a:solidFill>
              </a:rPr>
              <a:t>ARMANDO OLIVEIRA PEREIRA</a:t>
            </a:r>
          </a:p>
          <a:p>
            <a:pPr algn="ctr"/>
            <a:r>
              <a:rPr lang="pt-BR" sz="1100" b="1" dirty="0">
                <a:solidFill>
                  <a:srgbClr val="FF0000"/>
                </a:solidFill>
              </a:rPr>
              <a:t>MÉDICO DO TRABALHO</a:t>
            </a:r>
          </a:p>
          <a:p>
            <a:pPr algn="ctr"/>
            <a:r>
              <a:rPr lang="pt-BR" sz="1100" b="1" dirty="0">
                <a:solidFill>
                  <a:srgbClr val="FF0000"/>
                </a:solidFill>
              </a:rPr>
              <a:t>CRM: 23736/MG</a:t>
            </a:r>
          </a:p>
          <a:p>
            <a:pPr algn="ctr"/>
            <a:r>
              <a:rPr lang="pt-BR" sz="1100" b="1" dirty="0">
                <a:solidFill>
                  <a:srgbClr val="FF0000"/>
                </a:solidFill>
              </a:rPr>
              <a:t>INSTRUTOR (A)</a:t>
            </a:r>
          </a:p>
          <a:p>
            <a:pPr algn="ctr"/>
            <a:endParaRPr lang="pt-BR" dirty="0"/>
          </a:p>
        </p:txBody>
      </p:sp>
      <p:sp>
        <p:nvSpPr>
          <p:cNvPr id="9" name="Título 2"/>
          <p:cNvSpPr txBox="1">
            <a:spLocks/>
          </p:cNvSpPr>
          <p:nvPr/>
        </p:nvSpPr>
        <p:spPr bwMode="auto">
          <a:xfrm>
            <a:off x="421976" y="2852936"/>
            <a:ext cx="7929563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pt-BR" sz="1600" dirty="0">
                <a:solidFill>
                  <a:srgbClr val="FF0000"/>
                </a:solidFill>
              </a:rPr>
              <a:t>	</a:t>
            </a:r>
            <a:r>
              <a:rPr lang="pt-BR" sz="2400" b="1" u="sng" dirty="0">
                <a:solidFill>
                  <a:srgbClr val="FF0000"/>
                </a:solidFill>
              </a:rPr>
              <a:t>ANTONIO DOS SANTOS LOPES</a:t>
            </a:r>
          </a:p>
          <a:p>
            <a:pPr algn="ctr"/>
            <a:endParaRPr lang="pt-BR" sz="2400" u="sng" dirty="0"/>
          </a:p>
          <a:p>
            <a:pPr algn="just"/>
            <a:r>
              <a:rPr lang="pt-BR" sz="1600" dirty="0"/>
              <a:t>Por sua participação no </a:t>
            </a:r>
            <a:r>
              <a:rPr lang="pt-BR" sz="1600" b="1" dirty="0"/>
              <a:t>TREINAMENTO PARA TRABALHO EM ALTURA</a:t>
            </a:r>
            <a:r>
              <a:rPr lang="pt-BR" sz="1600" dirty="0"/>
              <a:t>, com carga horária de 08:00 horas conforme NR-35, realizado no dia </a:t>
            </a:r>
            <a:r>
              <a:rPr lang="pt-BR" sz="1600" b="1" dirty="0">
                <a:solidFill>
                  <a:srgbClr val="FF0000"/>
                </a:solidFill>
              </a:rPr>
              <a:t>02 de Março  de 2023</a:t>
            </a:r>
            <a:r>
              <a:rPr lang="pt-BR" sz="1600" b="1" dirty="0"/>
              <a:t>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>
                <a:solidFill>
                  <a:srgbClr val="FF0000"/>
                </a:solidFill>
              </a:rPr>
              <a:t>OURO BRANCO/MG, 02 DE MARÇO DE 2023</a:t>
            </a:r>
            <a:r>
              <a:rPr lang="pt-BR" sz="1600" dirty="0"/>
              <a:t>.</a:t>
            </a:r>
            <a:endParaRPr lang="pt-BR" sz="1400" dirty="0"/>
          </a:p>
          <a:p>
            <a:pPr algn="just"/>
            <a:endParaRPr lang="pt-BR" sz="1400" dirty="0"/>
          </a:p>
          <a:p>
            <a:pPr algn="just"/>
            <a:endParaRPr lang="pt-BR" sz="1100" dirty="0"/>
          </a:p>
        </p:txBody>
      </p:sp>
      <p:sp>
        <p:nvSpPr>
          <p:cNvPr id="10" name="CaixaDeTexto 9"/>
          <p:cNvSpPr txBox="1"/>
          <p:nvPr/>
        </p:nvSpPr>
        <p:spPr>
          <a:xfrm>
            <a:off x="683568" y="4797152"/>
            <a:ext cx="3400290" cy="12157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________________________</a:t>
            </a:r>
            <a:endParaRPr lang="pt-BR" b="1" dirty="0"/>
          </a:p>
          <a:p>
            <a:pPr algn="ctr"/>
            <a:r>
              <a:rPr lang="pt-BR" sz="1100" b="1" dirty="0">
                <a:solidFill>
                  <a:srgbClr val="FF0000"/>
                </a:solidFill>
              </a:rPr>
              <a:t>TOP SERVICE SERVIÇOS E SISTEMAS LTDA</a:t>
            </a:r>
          </a:p>
          <a:p>
            <a:pPr algn="ctr"/>
            <a:r>
              <a:rPr lang="pt-BR" sz="1100" b="1" dirty="0">
                <a:solidFill>
                  <a:srgbClr val="FF0000"/>
                </a:solidFill>
              </a:rPr>
              <a:t>DISLENY APARECIDA DIAS</a:t>
            </a:r>
          </a:p>
          <a:p>
            <a:pPr algn="ctr"/>
            <a:r>
              <a:rPr lang="pt-BR" sz="1100" b="1" dirty="0">
                <a:solidFill>
                  <a:srgbClr val="FF0000"/>
                </a:solidFill>
              </a:rPr>
              <a:t>ENGENHEIRA DE SEGURANÇA DO TRABALHO</a:t>
            </a:r>
          </a:p>
          <a:p>
            <a:pPr algn="ctr"/>
            <a:r>
              <a:rPr lang="pt-BR" sz="1100" b="1" dirty="0">
                <a:solidFill>
                  <a:srgbClr val="FF0000"/>
                </a:solidFill>
              </a:rPr>
              <a:t>CREA: MG 136115</a:t>
            </a:r>
          </a:p>
          <a:p>
            <a:pPr algn="ctr"/>
            <a:r>
              <a:rPr lang="pt-BR" sz="1100" b="1" dirty="0">
                <a:solidFill>
                  <a:srgbClr val="FF0000"/>
                </a:solidFill>
              </a:rPr>
              <a:t>RESPONSAVEL TÉCNICO/ INSTRUTOR (A)</a:t>
            </a:r>
          </a:p>
        </p:txBody>
      </p:sp>
    </p:spTree>
  </p:cSld>
  <p:clrMapOvr>
    <a:masterClrMapping/>
  </p:clrMapOvr>
  <p:transition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2"/>
          <p:cNvSpPr txBox="1">
            <a:spLocks/>
          </p:cNvSpPr>
          <p:nvPr/>
        </p:nvSpPr>
        <p:spPr bwMode="auto">
          <a:xfrm>
            <a:off x="683568" y="2996952"/>
            <a:ext cx="7929563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pt-BR" sz="2800" b="1" dirty="0"/>
              <a:t>CONTEÚDO PROGRAMÁTICO</a:t>
            </a:r>
          </a:p>
          <a:p>
            <a:pPr algn="ctr"/>
            <a:endParaRPr lang="pt-BR" sz="100" b="1" dirty="0"/>
          </a:p>
          <a:p>
            <a:pPr algn="l"/>
            <a:r>
              <a:rPr lang="pt-BR" sz="1400" b="1" dirty="0"/>
              <a:t>      </a:t>
            </a:r>
            <a:r>
              <a:rPr lang="pt-BR" sz="2000" b="1" dirty="0"/>
              <a:t>CARGA HORÁRIA: 08HORAS</a:t>
            </a:r>
            <a:endParaRPr lang="pt-BR" sz="1400" b="1" dirty="0"/>
          </a:p>
          <a:p>
            <a:pPr algn="l"/>
            <a:r>
              <a:rPr lang="pt-BR" b="1" dirty="0"/>
              <a:t>·</a:t>
            </a:r>
            <a:r>
              <a:rPr lang="pt-BR" sz="3600" b="1" dirty="0"/>
              <a:t> </a:t>
            </a:r>
            <a:r>
              <a:rPr lang="pt-BR" sz="1600" b="1" dirty="0"/>
              <a:t>normas e regulamento aplicáveis ao trabalho em altura;</a:t>
            </a:r>
          </a:p>
          <a:p>
            <a:pPr algn="l"/>
            <a:r>
              <a:rPr lang="pt-BR" b="1" dirty="0"/>
              <a:t>· </a:t>
            </a:r>
            <a:r>
              <a:rPr lang="pt-BR" sz="1600" b="1" dirty="0"/>
              <a:t>análise de risco e condições impeditivas;</a:t>
            </a:r>
          </a:p>
          <a:p>
            <a:pPr algn="l"/>
            <a:r>
              <a:rPr lang="pt-BR" b="1" dirty="0"/>
              <a:t>· </a:t>
            </a:r>
            <a:r>
              <a:rPr lang="pt-BR" sz="1600" b="1" dirty="0"/>
              <a:t>riscos potenciais inerentes ao trabalho em altura e medidas de prevenção e controle;</a:t>
            </a:r>
          </a:p>
          <a:p>
            <a:pPr algn="l"/>
            <a:r>
              <a:rPr lang="pt-BR" b="1" dirty="0"/>
              <a:t>·</a:t>
            </a:r>
            <a:r>
              <a:rPr lang="pt-BR" sz="1600" b="1" dirty="0"/>
              <a:t>sistemas, equipamentos e procedimentos de proteção coletiva;</a:t>
            </a:r>
          </a:p>
          <a:p>
            <a:pPr algn="l"/>
            <a:r>
              <a:rPr lang="pt-BR" b="1" dirty="0"/>
              <a:t>· </a:t>
            </a:r>
            <a:r>
              <a:rPr lang="pt-BR" sz="1600" b="1" dirty="0"/>
              <a:t>equipamento de Proteção Individual para o trabalho em altura; seleção, inspeção, conservação e limitação de uso;</a:t>
            </a:r>
          </a:p>
          <a:p>
            <a:pPr algn="l"/>
            <a:r>
              <a:rPr lang="pt-BR" b="1" dirty="0"/>
              <a:t>· </a:t>
            </a:r>
            <a:r>
              <a:rPr lang="pt-BR" sz="1600" b="1" dirty="0"/>
              <a:t>acidentes típicos em trabalho em altura</a:t>
            </a:r>
          </a:p>
          <a:p>
            <a:pPr algn="l"/>
            <a:r>
              <a:rPr lang="pt-BR" b="1" dirty="0"/>
              <a:t>· </a:t>
            </a:r>
            <a:r>
              <a:rPr lang="pt-BR" sz="1600" b="1" dirty="0"/>
              <a:t>condutas em situação de emergência, incluindo noções de técnicas de resgate e de primeiro socorros.</a:t>
            </a:r>
          </a:p>
          <a:p>
            <a:pPr algn="l"/>
            <a:endParaRPr lang="pt-BR" sz="1800" b="1" dirty="0"/>
          </a:p>
          <a:p>
            <a:pPr algn="l"/>
            <a:r>
              <a:rPr lang="pt-BR" sz="1800" b="1" dirty="0"/>
              <a:t> EXERCICIOS PRÁTICOS.</a:t>
            </a:r>
          </a:p>
        </p:txBody>
      </p:sp>
      <p:sp>
        <p:nvSpPr>
          <p:cNvPr id="2" name="Divisa 1"/>
          <p:cNvSpPr/>
          <p:nvPr/>
        </p:nvSpPr>
        <p:spPr>
          <a:xfrm>
            <a:off x="683568" y="1214202"/>
            <a:ext cx="215842" cy="126565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Divisa 5"/>
          <p:cNvSpPr/>
          <p:nvPr/>
        </p:nvSpPr>
        <p:spPr>
          <a:xfrm>
            <a:off x="467544" y="5733256"/>
            <a:ext cx="216024" cy="144016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284824"/>
      </p:ext>
    </p:extLst>
  </p:cSld>
  <p:clrMapOvr>
    <a:masterClrMapping/>
  </p:clrMapOvr>
  <p:transition>
    <p:split orient="vert"/>
  </p:transition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13877</TotalTime>
  <Words>230</Words>
  <Application>Microsoft Office PowerPoint</Application>
  <PresentationFormat>Apresentação na tela (4:3)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Lucida Handwriting</vt:lpstr>
      <vt:lpstr>Tema do Office</vt:lpstr>
      <vt:lpstr>CERTIFICADO A TOP SERVICE SERVIÇOS E SISTEMAS LTDA, confere o presente Certificado a: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sergio.pais</dc:creator>
  <cp:lastModifiedBy>Disleny Aparecida Dias Seabra</cp:lastModifiedBy>
  <cp:revision>1611</cp:revision>
  <cp:lastPrinted>2022-11-16T12:35:55Z</cp:lastPrinted>
  <dcterms:created xsi:type="dcterms:W3CDTF">2010-05-07T12:29:04Z</dcterms:created>
  <dcterms:modified xsi:type="dcterms:W3CDTF">2026-05-29T10:57:20Z</dcterms:modified>
</cp:coreProperties>
</file>